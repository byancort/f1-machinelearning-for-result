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Bebas Neue" panose="020B0606020202050201" pitchFamily="3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Open Sans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 y datos" id="{CD3C9EBB-D0AF-1FA1-31C1-9706849CE4EE}">
          <p14:sldIdLst>
            <p14:sldId id="256"/>
            <p14:sldId id="257"/>
            <p14:sldId id="258"/>
          </p14:sldIdLst>
        </p14:section>
        <p14:section name="Modelos" id="{4700BA93-0D23-CA65-089B-30DA0C9B3B1E}">
          <p14:sldIdLst>
            <p14:sldId id="259"/>
            <p14:sldId id="260"/>
            <p14:sldId id="261"/>
          </p14:sldIdLst>
        </p14:section>
        <p14:section name="Insights y cierre" id="{B809EE6A-ADCC-375E-DB8B-8A479FC8C4CC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es-MX" sz="1200" b="0" i="0" u="none" strike="noStrike">
                <a:solidFill>
                  <a:srgbClr val="000000"/>
                </a:solidFill>
                <a:latin typeface="+mn-lt"/>
              </a:rPr>
              <a:t>PR-AUC promedio · validación temporal 2022–2024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B3-49AD-A94C-B1B59447F186}"/>
              </c:ext>
            </c:extLst>
          </c:dPt>
          <c:dPt>
            <c:idx val="1"/>
            <c:invertIfNegative val="0"/>
            <c:bubble3D val="0"/>
            <c:spPr>
              <a:solidFill>
                <a:srgbClr val="F505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B3-49AD-A94C-B1B59447F18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1B3-49AD-A94C-B1B59447F186}"/>
              </c:ext>
            </c:extLst>
          </c:dPt>
          <c:dPt>
            <c:idx val="3"/>
            <c:invertIfNegative val="0"/>
            <c:bubble3D val="0"/>
            <c:spPr>
              <a:solidFill>
                <a:srgbClr val="2B2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B3-49AD-A94C-B1B59447F186}"/>
              </c:ext>
            </c:extLst>
          </c:dPt>
          <c:dPt>
            <c:idx val="4"/>
            <c:invertIfNegative val="0"/>
            <c:bubble3D val="0"/>
            <c:spPr>
              <a:solidFill>
                <a:srgbClr val="2B2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1B3-49AD-A94C-B1B59447F18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1B3-49AD-A94C-B1B59447F186}"/>
              </c:ext>
            </c:extLst>
          </c:dPt>
          <c:dPt>
            <c:idx val="6"/>
            <c:invertIfNegative val="0"/>
            <c:bubble3D val="0"/>
            <c:spPr>
              <a:solidFill>
                <a:srgbClr val="2B2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1B3-49AD-A94C-B1B59447F186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LogReg C=100</c:v>
                </c:pt>
                <c:pt idx="1">
                  <c:v>LogReg C=1</c:v>
                </c:pt>
                <c:pt idx="2">
                  <c:v>LogReg balanced</c:v>
                </c:pt>
                <c:pt idx="3">
                  <c:v>RF sin límite</c:v>
                </c:pt>
                <c:pt idx="4">
                  <c:v>RF prof. 4</c:v>
                </c:pt>
                <c:pt idx="5">
                  <c:v>LogReg C=0,01</c:v>
                </c:pt>
                <c:pt idx="6">
                  <c:v>RF prof. 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0.69899999999999995</c:v>
                </c:pt>
                <c:pt idx="1">
                  <c:v>0.69399999999999995</c:v>
                </c:pt>
                <c:pt idx="2">
                  <c:v>0.69099999999999995</c:v>
                </c:pt>
                <c:pt idx="3">
                  <c:v>0.67100000000000004</c:v>
                </c:pt>
                <c:pt idx="4">
                  <c:v>0.67</c:v>
                </c:pt>
                <c:pt idx="5">
                  <c:v>0.64400000000000002</c:v>
                </c:pt>
                <c:pt idx="6">
                  <c:v>0.63100000000000001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1B3-49AD-A94C-B1B59447F1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DBDB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5"/>
        </c:scaling>
        <c:delete val="1"/>
        <c:axPos val="t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es-MX" sz="1200" b="0" i="0" u="none" strike="noStrike">
                <a:solidFill>
                  <a:srgbClr val="000000"/>
                </a:solidFill>
                <a:latin typeface="+mn-lt"/>
              </a:rPr>
              <a:t>Error en puestos · prueba 2025–2026 (menor es mejor)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Solo grilla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MAE general</c:v>
                </c:pt>
                <c:pt idx="1">
                  <c:v>RMSE general</c:v>
                </c:pt>
                <c:pt idx="2">
                  <c:v>MAE remontadas*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3.41</c:v>
                </c:pt>
                <c:pt idx="1">
                  <c:v>5.04</c:v>
                </c:pt>
                <c:pt idx="2">
                  <c:v>5.29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EA-40C8-BD09-CB90C0F003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 α = 100</c:v>
                </c:pt>
              </c:strCache>
            </c:strRef>
          </c:tx>
          <c:spPr>
            <a:solidFill>
              <a:srgbClr val="F5053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MAE general</c:v>
                </c:pt>
                <c:pt idx="1">
                  <c:v>RMSE general</c:v>
                </c:pt>
                <c:pt idx="2">
                  <c:v>MAE remontadas*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3.41</c:v>
                </c:pt>
                <c:pt idx="1">
                  <c:v>4.51</c:v>
                </c:pt>
                <c:pt idx="2">
                  <c:v>3.87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EA-40C8-BD09-CB90C0F003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DBDB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50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Analizamos siete temporadas de Fórmula 1, de 2020 a 2026, para responder una pregunta simple: con lo que se sabe antes de la largada, ¿cuánto se puede anticipar del resultado? Usamos 148 Grandes Premios y casi 3.000 resultados. En diez minutos les mostramos qué modelos elegimos, por qué, y tres hallazgos con implicancias concretas.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Planteamos dos preguntas predictivas y una exploratoria. P1: ¿sube al podio?, un problema de clasificación desbalanceado, porque solo el 15 % de los resultados son podio. P2: la posición final, un problema de regresión, comparado contra la referencia más obvia: que el piloto termine donde largó. P3: con DBSCAN buscamos perfiles de piloto y casos atípicos. Los datos son los resultados oficiales 2020-2026 en formato Ergast.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metodológica clave es la separación temporal. Un corte aleatorio mezclaría carreras futuras en el entrenamiento. Entrenamos con 2020 a 2023, elegimos configuraciones con 2024 y evaluamos una sola vez en 2025 y 2026, que además trae reglamento nuevo. Todas las variables se conocen antes de la largada, y las elecciones se confirmaron con una validación temporal de tres años.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siete configuraciones. La métrica clave es la PR-AUC, porque el podio es la clase minoritaria. La logística le gana a todos los Random Forest en promedio de tres años; entre C=1 y C=100 no hay diferencia real, así que elegimos C=1. En prueba logra ROC-AUC 0,94. El umbral es una decisión de negocio: con 0,50 priorizamos precisión; con 0,30 capturamos el 84 % de los podios a costa de más falsas alarmas. Descartamos Random Forest tras ejecutarlo, y SVM por razones de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la posición final, la referencia a superar es terminar donde se largó. Ridge iguala el error típico de 3,4 puestos, pero reduce los errores grandes: el RMSE baja de 5,0 a 4,5 y el R² sube de 0,30 a 0,44. La ganancia está en las remontadas: cuando un auto de punta larga atrás, el error baja de 5,3 a 3,9 puestos. El límite son los abandonos, imprevisibles antes de la carrera. Elegimos Ridge alfa 100 por ser el más preciso y estable en la validación de tres años.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DBSCAN no recibe el número de grupos: lo define la densidad. Probamos 15 combinaciones. Con eps bajo, casi todo es ruido; con eps alto, toda la parrilla se funde en un grupo. Elegimos eps 1,4 y min_samples 4: dos grupos, 23 % de ruido y la mejor silueta sin fundir a la parrilla. El ruido no es error: es la élite, los remontadores y los autos con muchos abandonos. Lo más sólido son los atípicos; el subgrupo de aspirantes depende de los rasgos elegidos y lo presentamos con esa cautela.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Primero: el sábado decide el domingo. Quien larga primero sube al podio 8 de cada 10 veces, y la grilla sola casi iguala al modelo completo. Segundo: cuatro equipos se llevan el 97 % de los podios; con resultados no se puede separar el mérito del auto del del piloto, así que hay que comparar contra el compañero. Tercero: combinando el modelo con DBSCAN, solo cuatro pilotos se apartan de lo esperado de forma significativa. El resto del ranking es ruido, y decirlo es parte del hallazgo.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síntesis: con información previa a la carrera se anticipa muy bien quién sube al podio, la posición final se predice con un error de unos tres puestos, y los pilotos realmente atípicos son pocos y estables. Las limitaciones principales: 2026 está incompleto y los abandonos ponen un techo al error. Como próximos pasos proponemos sumar los tiempos de clasificación y modelar el abandono por separado. Gracias,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ER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2743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0"/>
            <a:ext cx="5242255" cy="2743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7269480" y="502920"/>
            <a:ext cx="4526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96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defRPr>
            </a:lvl1pPr>
          </a:lstStyle>
          <a:p>
            <a:pPr marL="0" indent="0" algn="r">
              <a:buNone/>
            </a:pPr>
            <a:r>
              <a:rPr lang="en-US" sz="96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TÍTULO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2020–2026  ·  EP2 MACHINE LEARNING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371600" y="365760"/>
            <a:ext cx="1024128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TÍTULO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463040" y="301752"/>
            <a:ext cx="101498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TÍTULO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2020–2026  ·  EP2 MACHINE LEARNING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51560"/>
            <a:ext cx="4480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TÍTULO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2020–2026  ·  EP2 MACHINE LEARNING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FR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0"/>
            <a:ext cx="4480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TÍTULO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5257800" y="5623560"/>
            <a:ext cx="0" cy="77724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63040" y="365760"/>
            <a:ext cx="10149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TÍTULO</a:t>
            </a: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2020–2026  ·  EP2 MACHINE LEARNING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to de Fórmula 1 en estu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394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8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¿QUÉ DECIDE UN PODIO</a:t>
            </a:r>
            <a:endParaRPr lang="en-US" sz="8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8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EN LA FÓRMULA 1?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Evaluación Parcial 2  ·  Machine Learning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623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predictivos y perfiles de piloto  ·  temporadas 2020–2026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80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Christian Tapia  ·  Claudio Iribarne  ·  Diego Cortés  ·  Mario Escobar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de octubre de 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5532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148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6236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Grandes Premios</a:t>
            </a:r>
            <a:endParaRPr lang="en-US" sz="1000" dirty="0"/>
          </a:p>
        </p:txBody>
      </p:sp>
      <p:sp>
        <p:nvSpPr>
          <p:cNvPr id="9" name="separador"/>
          <p:cNvSpPr/>
          <p:nvPr/>
        </p:nvSpPr>
        <p:spPr>
          <a:xfrm>
            <a:off x="8961120" y="5669280"/>
            <a:ext cx="0" cy="8686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98280" y="5532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2.992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6236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12" name="separador"/>
          <p:cNvSpPr/>
          <p:nvPr/>
        </p:nvSpPr>
        <p:spPr>
          <a:xfrm>
            <a:off x="10424160" y="5669280"/>
            <a:ext cx="0" cy="8686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561320" y="5532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40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10561320" y="6236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269480" y="50292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6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PREGUNTAS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01/  DATASET, PROBLEMA Y PREGUNTAS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Tres preguntas para entender qué decide el resultado de una carrera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Datos: </a:t>
            </a: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 oficiales de F1 2020–2026 (Jolpica F1, sucesor de la API Ergast; mismo esquema que el dataset de Kaggle). 2026 incluye las primeras 17 rondas.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P1/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CLASIFICACIÓN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¿Terminará el piloto en el podio?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 podio sí/no (top 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~15 % de los casos son podio</a:t>
            </a:r>
            <a:endParaRPr lang="en-US" sz="1300" dirty="0"/>
          </a:p>
        </p:txBody>
      </p:sp>
      <p:sp>
        <p:nvSpPr>
          <p:cNvPr id="10" name="separador"/>
          <p:cNvSpPr/>
          <p:nvPr/>
        </p:nvSpPr>
        <p:spPr>
          <a:xfrm>
            <a:off x="4114800" y="3200400"/>
            <a:ext cx="0" cy="251460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3108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P2/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REGRESIÓN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931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¿En qué posición terminará?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5074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 posición final (1 a 22)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Línea base: posición de largada</a:t>
            </a:r>
            <a:endParaRPr lang="en-US" sz="1300" dirty="0"/>
          </a:p>
        </p:txBody>
      </p:sp>
      <p:sp>
        <p:nvSpPr>
          <p:cNvPr id="15" name="separador"/>
          <p:cNvSpPr/>
          <p:nvPr/>
        </p:nvSpPr>
        <p:spPr>
          <a:xfrm>
            <a:off x="7863840" y="3200400"/>
            <a:ext cx="0" cy="251460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3108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P3/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SUPERVISADO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931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¿Qué perfiles de piloto existen y quiénes son atípicos?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5074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DBSCAN sobre 31 pilotos con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≥ 30 largadas en el período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Ambas variables objetivo existen en los datos originales: no son objetivos artificiales.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vertical"/>
          <p:cNvSpPr txBox="1"/>
          <p:nvPr/>
        </p:nvSpPr>
        <p:spPr>
          <a:xfrm rot="16200000">
            <a:off x="-137160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02/  DATOS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371600" y="3657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Validamos como en la realidad: entrenamos con el pasado y probamos con el futuro</a:t>
            </a:r>
            <a:endParaRPr lang="en-US" sz="3200" dirty="0"/>
          </a:p>
        </p:txBody>
      </p:sp>
      <p:sp>
        <p:nvSpPr>
          <p:cNvPr id="4" name="separador"/>
          <p:cNvSpPr/>
          <p:nvPr/>
        </p:nvSpPr>
        <p:spPr>
          <a:xfrm>
            <a:off x="1371600" y="1508760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81328" y="1481328"/>
            <a:ext cx="128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2020</a:t>
            </a:r>
            <a:endParaRPr lang="en-US" sz="3000" dirty="0"/>
          </a:p>
        </p:txBody>
      </p:sp>
      <p:sp>
        <p:nvSpPr>
          <p:cNvPr id="6" name="barra_2020"/>
          <p:cNvSpPr/>
          <p:nvPr/>
        </p:nvSpPr>
        <p:spPr>
          <a:xfrm>
            <a:off x="1481328" y="2075688"/>
            <a:ext cx="1284079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separador"/>
          <p:cNvSpPr/>
          <p:nvPr/>
        </p:nvSpPr>
        <p:spPr>
          <a:xfrm>
            <a:off x="2838559" y="1508760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48287" y="1481328"/>
            <a:ext cx="128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2021</a:t>
            </a:r>
            <a:endParaRPr lang="en-US" sz="3000" dirty="0"/>
          </a:p>
        </p:txBody>
      </p:sp>
      <p:sp>
        <p:nvSpPr>
          <p:cNvPr id="9" name="barra_2021"/>
          <p:cNvSpPr/>
          <p:nvPr/>
        </p:nvSpPr>
        <p:spPr>
          <a:xfrm>
            <a:off x="2948287" y="2075688"/>
            <a:ext cx="1284079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separador"/>
          <p:cNvSpPr/>
          <p:nvPr/>
        </p:nvSpPr>
        <p:spPr>
          <a:xfrm>
            <a:off x="4305518" y="1508760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5246" y="1481328"/>
            <a:ext cx="128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2022</a:t>
            </a:r>
            <a:endParaRPr lang="en-US" sz="3000" dirty="0"/>
          </a:p>
        </p:txBody>
      </p:sp>
      <p:sp>
        <p:nvSpPr>
          <p:cNvPr id="12" name="barra_2022"/>
          <p:cNvSpPr/>
          <p:nvPr/>
        </p:nvSpPr>
        <p:spPr>
          <a:xfrm>
            <a:off x="4415246" y="2075688"/>
            <a:ext cx="1284079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separador"/>
          <p:cNvSpPr/>
          <p:nvPr/>
        </p:nvSpPr>
        <p:spPr>
          <a:xfrm>
            <a:off x="5772477" y="1508760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82205" y="1481328"/>
            <a:ext cx="128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2023</a:t>
            </a:r>
            <a:endParaRPr lang="en-US" sz="3000" dirty="0"/>
          </a:p>
        </p:txBody>
      </p:sp>
      <p:sp>
        <p:nvSpPr>
          <p:cNvPr id="15" name="barra_2023"/>
          <p:cNvSpPr/>
          <p:nvPr/>
        </p:nvSpPr>
        <p:spPr>
          <a:xfrm>
            <a:off x="5882205" y="2075688"/>
            <a:ext cx="1284079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separador"/>
          <p:cNvSpPr/>
          <p:nvPr/>
        </p:nvSpPr>
        <p:spPr>
          <a:xfrm>
            <a:off x="7239435" y="1508760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49163" y="1481328"/>
            <a:ext cx="128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accent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2024</a:t>
            </a:r>
            <a:endParaRPr lang="en-US" sz="3000" dirty="0"/>
          </a:p>
        </p:txBody>
      </p:sp>
      <p:sp>
        <p:nvSpPr>
          <p:cNvPr id="18" name="barra_2024"/>
          <p:cNvSpPr/>
          <p:nvPr/>
        </p:nvSpPr>
        <p:spPr>
          <a:xfrm>
            <a:off x="7349163" y="2075688"/>
            <a:ext cx="1284079" cy="91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separador"/>
          <p:cNvSpPr/>
          <p:nvPr/>
        </p:nvSpPr>
        <p:spPr>
          <a:xfrm>
            <a:off x="8706394" y="1508760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16122" y="1481328"/>
            <a:ext cx="128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2025</a:t>
            </a:r>
            <a:endParaRPr lang="en-US" sz="3000" dirty="0"/>
          </a:p>
        </p:txBody>
      </p:sp>
      <p:sp>
        <p:nvSpPr>
          <p:cNvPr id="21" name="barra_2025"/>
          <p:cNvSpPr/>
          <p:nvPr/>
        </p:nvSpPr>
        <p:spPr>
          <a:xfrm>
            <a:off x="8816122" y="2075688"/>
            <a:ext cx="1284079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separador"/>
          <p:cNvSpPr/>
          <p:nvPr/>
        </p:nvSpPr>
        <p:spPr>
          <a:xfrm>
            <a:off x="10173353" y="1508760"/>
            <a:ext cx="0" cy="731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83081" y="1481328"/>
            <a:ext cx="128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2026</a:t>
            </a:r>
            <a:endParaRPr lang="en-US" sz="3000" dirty="0"/>
          </a:p>
        </p:txBody>
      </p:sp>
      <p:sp>
        <p:nvSpPr>
          <p:cNvPr id="24" name="barra_2026"/>
          <p:cNvSpPr/>
          <p:nvPr/>
        </p:nvSpPr>
        <p:spPr>
          <a:xfrm>
            <a:off x="10283081" y="2075688"/>
            <a:ext cx="1284079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481328" y="2258568"/>
            <a:ext cx="5684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Entrenamiento  ·  1.660 filas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49163" y="2258568"/>
            <a:ext cx="128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  ·  479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16122" y="2258568"/>
            <a:ext cx="2751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Prueba, una sola vez  ·  853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PREPARACIÓN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315468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variables conocidas antes de la largada: grilla, forma reciente del piloto y del equipo, % de abandonos y posición en el campeonato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Puntos como proporción del líder: el reglamento y las sprints cambian la escala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Calidad: IDs remapeados, largada desde pit lane = último lugar y 13 % de resultados sin clasificar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2743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CÓMO EVITAMOS LA FUGA DE INFORMACIÓN</a:t>
            </a:r>
            <a:endParaRPr lang="en-US" sz="2400" dirty="0"/>
          </a:p>
        </p:txBody>
      </p:sp>
      <p:sp>
        <p:nvSpPr>
          <p:cNvPr id="31" name="circulo_0"/>
          <p:cNvSpPr/>
          <p:nvPr/>
        </p:nvSpPr>
        <p:spPr>
          <a:xfrm>
            <a:off x="6583680" y="3246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337560"/>
            <a:ext cx="182880" cy="18288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7086600" y="322783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forma solo usa carreras anteriores; el campeonato, la ronda previa</a:t>
            </a:r>
            <a:endParaRPr lang="en-US" sz="1150" dirty="0"/>
          </a:p>
        </p:txBody>
      </p:sp>
      <p:sp>
        <p:nvSpPr>
          <p:cNvPr id="34" name="circulo_1"/>
          <p:cNvSpPr/>
          <p:nvPr/>
        </p:nvSpPr>
        <p:spPr>
          <a:xfrm>
            <a:off x="6583680" y="37216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813048"/>
            <a:ext cx="182880" cy="18288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086600" y="37033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Imputación y escalado se ajustan solo con entrenamiento</a:t>
            </a:r>
            <a:endParaRPr lang="en-US" sz="1150" dirty="0"/>
          </a:p>
        </p:txBody>
      </p:sp>
      <p:sp>
        <p:nvSpPr>
          <p:cNvPr id="37" name="circulo_2"/>
          <p:cNvSpPr/>
          <p:nvPr/>
        </p:nvSpPr>
        <p:spPr>
          <a:xfrm>
            <a:off x="6583680" y="41970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288536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086600" y="417880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Configuraciones elegidas con validación temporal 2022–2024</a:t>
            </a:r>
            <a:endParaRPr lang="en-US" sz="1150" dirty="0"/>
          </a:p>
        </p:txBody>
      </p:sp>
      <p:pic>
        <p:nvPicPr>
          <p:cNvPr id="40" name="Image 3" descr="Vista lateral de un auto de Fórmula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54880"/>
            <a:ext cx="11277295" cy="2103120"/>
          </a:xfrm>
          <a:prstGeom prst="rect">
            <a:avLst/>
          </a:prstGeom>
        </p:spPr>
      </p:pic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01752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03/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463040" y="301752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Podio: una regresión logística ordena bien a los candidatos (ROC-AUC 0,94)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CLASIFICACIÓN: ¿PODIO?</a:t>
            </a:r>
            <a:endParaRPr lang="en-US" sz="1000" dirty="0"/>
          </a:p>
        </p:txBody>
      </p:sp>
      <p:graphicFrame>
        <p:nvGraphicFramePr>
          <p:cNvPr id="5" name="grafico_clasificacion"/>
          <p:cNvGraphicFramePr/>
          <p:nvPr/>
        </p:nvGraphicFramePr>
        <p:xfrm>
          <a:off x="548640" y="201168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989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Gris claro = logística · negro = Random Forest</a:t>
            </a:r>
            <a:endParaRPr lang="en-US" sz="900" dirty="0"/>
          </a:p>
        </p:txBody>
      </p:sp>
      <p:sp>
        <p:nvSpPr>
          <p:cNvPr id="7" name="panel_decision"/>
          <p:cNvSpPr/>
          <p:nvPr/>
        </p:nvSpPr>
        <p:spPr>
          <a:xfrm>
            <a:off x="6903720" y="1463040"/>
            <a:ext cx="5287975" cy="5394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694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DECISIÓN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057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REGRESIÓN LOGÍSTICA, C = 1</a:t>
            </a:r>
            <a:endParaRPr lang="en-US" sz="3200" dirty="0"/>
          </a:p>
        </p:txBody>
      </p:sp>
      <p:graphicFrame>
        <p:nvGraphicFramePr>
          <p:cNvPr id="10" name="tabla_umbr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743200"/>
          <a:ext cx="4389120" cy="9875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Prueba 2025–26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Precision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Recall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Umbral 0,50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0,69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0,68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0,68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Umbral 0,30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0,55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053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0,84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0,67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269480" y="397764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Descartados: </a:t>
            </a: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(ejecutado: menor PR-AUC, sin coeficientes); SVM RBF (solo considerado: sin probabilidades nativas y frontera casi monótona).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Prueba: </a:t>
            </a: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ROC-AUC 0,938 · PR-AUC 0,730, en línea con la validación. C = 1 y C = 100 empatan dentro de la variación entre años (± 0,05); elegimos la opción más simple.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01752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04/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463040" y="301752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Posición final: Ridge reduce los errores grandes, sobre todo en las remontadas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REGRESIÓN: POSICIÓN FINAL</a:t>
            </a:r>
            <a:endParaRPr lang="en-US" sz="1000" dirty="0"/>
          </a:p>
        </p:txBody>
      </p:sp>
      <p:graphicFrame>
        <p:nvGraphicFramePr>
          <p:cNvPr id="5" name="grafico_regresion"/>
          <p:cNvGraphicFramePr/>
          <p:nvPr/>
        </p:nvGraphicFramePr>
        <p:xfrm>
          <a:off x="548640" y="2011680"/>
          <a:ext cx="60350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989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Auto de punta que larga 8º o más atrás (51 casos)</a:t>
            </a:r>
            <a:endParaRPr lang="en-US" sz="900" dirty="0"/>
          </a:p>
        </p:txBody>
      </p:sp>
      <p:sp>
        <p:nvSpPr>
          <p:cNvPr id="7" name="panel_decision"/>
          <p:cNvSpPr/>
          <p:nvPr/>
        </p:nvSpPr>
        <p:spPr>
          <a:xfrm>
            <a:off x="6903720" y="1463040"/>
            <a:ext cx="5287975" cy="5394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6948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0,44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R² del modelo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(solo grilla: 0,30)</a:t>
            </a:r>
            <a:endParaRPr lang="en-US" sz="1100" dirty="0"/>
          </a:p>
        </p:txBody>
      </p:sp>
      <p:sp>
        <p:nvSpPr>
          <p:cNvPr id="10" name="separador"/>
          <p:cNvSpPr/>
          <p:nvPr/>
        </p:nvSpPr>
        <p:spPr>
          <a:xfrm>
            <a:off x="9509760" y="1828800"/>
            <a:ext cx="0" cy="128016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9264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7,5 VS 2,7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puestos de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y sin abandono</a:t>
            </a:r>
            <a:endParaRPr lang="en-US" sz="1100" dirty="0"/>
          </a:p>
        </p:txBody>
      </p:sp>
      <p:sp>
        <p:nvSpPr>
          <p:cNvPr id="13" name="separador"/>
          <p:cNvSpPr/>
          <p:nvPr/>
        </p:nvSpPr>
        <p:spPr>
          <a:xfrm>
            <a:off x="7269480" y="3474720"/>
            <a:ext cx="43891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6948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3931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RIDGE, ALFA = 100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45720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Menor MAE en validación de 3 años (3,21 ± 0,31) y coeficientes estables con el signo esperado.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Descartados: </a:t>
            </a: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OLS (signos inestables), Lasso (deja 3 variables y sube el error), Random Forest (ejecutado, sobreajusta) y SVR (solo considerado).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05/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515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DBSCAN: un bloque mayoritario y siete pilotos atípicos</a:t>
            </a:r>
            <a:endParaRPr lang="en-US" sz="3400" dirty="0"/>
          </a:p>
        </p:txBody>
      </p:sp>
      <p:graphicFrame>
        <p:nvGraphicFramePr>
          <p:cNvPr id="7" name="tabla_dbsc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4480560" cy="2084832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eps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min_samples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Clústeres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% ruido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Silueta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51,6 %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38,7 %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22,6 %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0,49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22,6 %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0,49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9,7 %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combinaciones probadas (eps 0,8–1,6 × min_samples 3–5). Final en rojo: la zona estable con mejor separación sin fundir a toda la parrilla.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GRUPOS ENCONTRADOS · 31 PILOTOS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943600" y="9144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19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109728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Mitad y fondo de parrilla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1572768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Larga ~13º · 2 % de podios</a:t>
            </a:r>
            <a:endParaRPr lang="en-US" sz="1200" dirty="0"/>
          </a:p>
        </p:txBody>
      </p:sp>
      <p:sp>
        <p:nvSpPr>
          <p:cNvPr id="10" name="separador"/>
          <p:cNvSpPr/>
          <p:nvPr/>
        </p:nvSpPr>
        <p:spPr>
          <a:xfrm>
            <a:off x="5943600" y="2404872"/>
            <a:ext cx="569671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25146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dirty="0">
                <a:solidFill>
                  <a:schemeClr val="accent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</a:t>
            </a:r>
            <a:endParaRPr lang="en-US" sz="8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69748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Aspirantes de equipo grande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3172968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Leclerc, Norris, Piastri, Russell, Sainz · subgrupo no robusto</a:t>
            </a:r>
            <a:endParaRPr lang="en-US" sz="1200" dirty="0"/>
          </a:p>
        </p:txBody>
      </p:sp>
      <p:sp>
        <p:nvSpPr>
          <p:cNvPr id="14" name="separador"/>
          <p:cNvSpPr/>
          <p:nvPr/>
        </p:nvSpPr>
        <p:spPr>
          <a:xfrm>
            <a:off x="5943600" y="4005072"/>
            <a:ext cx="569671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4114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88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429768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Atípicos (ruido)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4773168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Élite: Verstappen, Hamilton, Antonelli · Remontadores: Pérez, Räikkönen · &gt;20 % abandonos: Stroll, Albon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576072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Robustez: Verstappen, Hamilton, Pérez y Stroll son atípicos en las 4 variantes de rasgos y umbrales probadas.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06/ TRES INSIGHTS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532120" y="5623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Tres hallazgos para la toma de decisiones.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79 %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los que largan 1º terminan en el podio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El sábado decide el domingo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3429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Evidencia  </a:t>
            </a:r>
            <a:r>
              <a:rPr lang="en-US" sz="13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con la grilla: ROC-AUC 0,933; el modelo completo llega a 0,938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Implicancia  </a:t>
            </a:r>
            <a:r>
              <a:rPr lang="en-US" sz="13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clasificación es la palanca principal; el modelo agrega valor en las remontadas</a:t>
            </a:r>
            <a:endParaRPr lang="en-US" sz="1300" dirty="0"/>
          </a:p>
        </p:txBody>
      </p:sp>
      <p:sp>
        <p:nvSpPr>
          <p:cNvPr id="8" name="separador"/>
          <p:cNvSpPr/>
          <p:nvPr/>
        </p:nvSpPr>
        <p:spPr>
          <a:xfrm>
            <a:off x="4114800" y="548640"/>
            <a:ext cx="0" cy="434340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3200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96,6 %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463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los podios 2025–26 son de 4 equipos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Hay un muro entre los 4 grandes y el resto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971800"/>
            <a:ext cx="3429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Evidencia  </a:t>
            </a:r>
            <a:r>
              <a:rPr lang="en-US" sz="13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McLaren 33 %, Mercedes 28 %, Red Bull 21 %, Ferrari 15 %; auto y piloto predicen igual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Implicancia  </a:t>
            </a:r>
            <a:r>
              <a:rPr lang="en-US" sz="13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Evaluar pilotos descontando el auto, por ejemplo frente a su compañero de equipo</a:t>
            </a:r>
            <a:endParaRPr lang="en-US" sz="1300" dirty="0"/>
          </a:p>
        </p:txBody>
      </p:sp>
      <p:sp>
        <p:nvSpPr>
          <p:cNvPr id="13" name="separador"/>
          <p:cNvSpPr/>
          <p:nvPr/>
        </p:nvSpPr>
        <p:spPr>
          <a:xfrm>
            <a:off x="7863840" y="548640"/>
            <a:ext cx="0" cy="434340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200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</a:t>
            </a:r>
            <a:endParaRPr lang="en-US" sz="8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1463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pilotos con rendimiento significativamente distinto a lo esperado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Pocos superan a su auto de forma demostrable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971800"/>
            <a:ext cx="3429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Evidencia  </a:t>
            </a:r>
            <a:r>
              <a:rPr lang="en-US" sz="13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Sobre lo esperado: Verstappen, Bearman · Bajo lo esperado: Stroll, Tsunoda (|t| &gt; 2)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Implicancia  </a:t>
            </a:r>
            <a:r>
              <a:rPr lang="en-US" sz="13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el residuo del modelo para scouting solo si va con su incertidumbre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to de Fórmula 1 iluminado en roj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834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07/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63040" y="365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Conclusiones, limitaciones y próximos pasos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P1: logística con ROC-AUC 0,94 y umbral ajustable al costo del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P2: Ridge supera a la grilla en errores grandes (R² de 0,30 a 0,44)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P3: atípicos estables; la segmentación fina no es robusta</a:t>
            </a:r>
            <a:endParaRPr lang="en-US" sz="1250" dirty="0"/>
          </a:p>
        </p:txBody>
      </p:sp>
      <p:sp>
        <p:nvSpPr>
          <p:cNvPr id="7" name="separador"/>
          <p:cNvSpPr/>
          <p:nvPr/>
        </p:nvSpPr>
        <p:spPr>
          <a:xfrm>
            <a:off x="4114800" y="3154680"/>
            <a:ext cx="0" cy="2468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97680" y="3063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LIMITACIONES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365760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 incompleto (17 rondas) y con reglamento nuevo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Abandonos imprevisibles: ponen un techo al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Residuo por piloto con ~40 carreras: poca potencia</a:t>
            </a:r>
            <a:endParaRPr lang="en-US" sz="1250" dirty="0"/>
          </a:p>
        </p:txBody>
      </p:sp>
      <p:sp>
        <p:nvSpPr>
          <p:cNvPr id="10" name="separador"/>
          <p:cNvSpPr/>
          <p:nvPr/>
        </p:nvSpPr>
        <p:spPr>
          <a:xfrm>
            <a:off x="7863840" y="3154680"/>
            <a:ext cx="0" cy="2468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3063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65760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Agregar la diferencia de tiempo frente a la pole y efectos por circuito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en dos etapas: abandono + posición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Reevaluar al cierre de 2026 con validación año a año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589788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accent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GRACIAS  ·  PREGUNTAS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739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1 Audi">
  <a:themeElements>
    <a:clrScheme name="F1 Audi">
      <a:dk1>
        <a:srgbClr val="000000"/>
      </a:dk1>
      <a:lt1>
        <a:srgbClr val="FFFFFF"/>
      </a:lt1>
      <a:dk2>
        <a:srgbClr val="1A1A1A"/>
      </a:dk2>
      <a:lt2>
        <a:srgbClr val="EFEFEF"/>
      </a:lt2>
      <a:accent1>
        <a:srgbClr val="F50537"/>
      </a:accent1>
      <a:accent2>
        <a:srgbClr val="CC042F"/>
      </a:accent2>
      <a:accent3>
        <a:srgbClr val="8C8C8C"/>
      </a:accent3>
      <a:accent4>
        <a:srgbClr val="BDBDBD"/>
      </a:accent4>
      <a:accent5>
        <a:srgbClr val="5A5A5A"/>
      </a:accent5>
      <a:accent6>
        <a:srgbClr val="2B2B2B"/>
      </a:accent6>
      <a:hlink>
        <a:srgbClr val="F50537"/>
      </a:hlink>
      <a:folHlink>
        <a:srgbClr val="8C8C8C"/>
      </a:folHlink>
    </a:clrScheme>
    <a:fontScheme name="F1 Audi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1716</Words>
  <Application>Microsoft Office PowerPoint</Application>
  <PresentationFormat>Panorámica</PresentationFormat>
  <Paragraphs>187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Bebas Neue</vt:lpstr>
      <vt:lpstr>Calibri</vt:lpstr>
      <vt:lpstr>Open Sans</vt:lpstr>
      <vt:lpstr>Arial</vt:lpstr>
      <vt:lpstr>F1 Audi</vt:lpstr>
      <vt:lpstr>Presentación de PowerPoint</vt:lpstr>
      <vt:lpstr>PREGUNTAS</vt:lpstr>
      <vt:lpstr>Validamos como en la realidad: entrenamos con el pasado y probamos con el futuro</vt:lpstr>
      <vt:lpstr>Podio: una regresión logística ordena bien a los candidatos (ROC-AUC 0,94)</vt:lpstr>
      <vt:lpstr>Posición final: Ridge reduce los errores grandes, sobre todo en las remontadas</vt:lpstr>
      <vt:lpstr>DBSCAN: un bloque mayoritario y siete pilotos atípicos</vt:lpstr>
      <vt:lpstr>06/ TRES INSIGHTS</vt:lpstr>
      <vt:lpstr>Conclusiones, limitaciones y próximos pasos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decide un podio en la Fórmula 1?</dc:title>
  <dc:subject>EP2 Machine Learning — F1 2020-2026</dc:subject>
  <dc:creator>Tapia · Iribarne · Cortés · Escobar</dc:creator>
  <cp:lastModifiedBy>ByEko</cp:lastModifiedBy>
  <cp:revision>1</cp:revision>
  <dcterms:created xsi:type="dcterms:W3CDTF">2026-10-27T22:20:11Z</dcterms:created>
  <dcterms:modified xsi:type="dcterms:W3CDTF">2026-10-27T22:23:36Z</dcterms:modified>
</cp:coreProperties>
</file>